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5" userDrawn="1">
          <p15:clr>
            <a:srgbClr val="A4A3A4"/>
          </p15:clr>
        </p15:guide>
        <p15:guide id="2" pos="3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5"/>
        <p:guide pos="384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9.xml"/><Relationship Id="rId3" Type="http://schemas.openxmlformats.org/officeDocument/2006/relationships/image" Target="../media/image1.png"/><Relationship Id="rId2" Type="http://schemas.openxmlformats.org/officeDocument/2006/relationships/tags" Target="../tags/tag78.xml"/><Relationship Id="rId1" Type="http://schemas.openxmlformats.org/officeDocument/2006/relationships/tags" Target="../tags/tag7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p>
            <a:r>
              <a:rPr lang="en-US"/>
              <a:t>Global COVID-19 Analysis Dashboard</a:t>
            </a:r>
            <a:endParaRPr lang="en-US"/>
          </a:p>
        </p:txBody>
      </p:sp>
      <p:sp>
        <p:nvSpPr>
          <p:cNvPr id="3" name="Subtitle 2"/>
          <p:cNvSpPr>
            <a:spLocks noGrp="1"/>
          </p:cNvSpPr>
          <p:nvPr>
            <p:ph type="subTitle" idx="1"/>
            <p:custDataLst>
              <p:tags r:id="rId2"/>
            </p:custDataLst>
          </p:nvPr>
        </p:nvSpPr>
        <p:spPr>
          <a:xfrm>
            <a:off x="1198880" y="3560445"/>
            <a:ext cx="9799320" cy="2142490"/>
          </a:xfrm>
        </p:spPr>
        <p:txBody>
          <a:bodyPr>
            <a:normAutofit lnSpcReduction="10000"/>
          </a:bodyPr>
          <a:p>
            <a:r>
              <a:rPr lang="en-US"/>
              <a:t>AnalystLab Africa Data Analytics Internship</a:t>
            </a:r>
            <a:endParaRPr lang="en-US"/>
          </a:p>
          <a:p>
            <a:r>
              <a:rPr lang="en-US"/>
              <a:t>Week 4:Data Visualization and Dashboarding Project</a:t>
            </a:r>
            <a:endParaRPr lang="en-US"/>
          </a:p>
          <a:p>
            <a:r>
              <a:rPr lang="en-US"/>
              <a:t>Tool Used: Microsoft Power BI</a:t>
            </a:r>
            <a:endParaRPr lang="en-US"/>
          </a:p>
          <a:p>
            <a:r>
              <a:rPr lang="en-US"/>
              <a:t>Prepared by: Tinotenda Chadzingwa</a:t>
            </a:r>
            <a:endParaRPr 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b="1"/>
              <a:t>Dataset Overview</a:t>
            </a:r>
            <a:endParaRPr lang="en-US" b="1"/>
          </a:p>
        </p:txBody>
      </p:sp>
      <p:sp>
        <p:nvSpPr>
          <p:cNvPr id="5" name="Content Placeholder 4"/>
          <p:cNvSpPr>
            <a:spLocks noGrp="1"/>
          </p:cNvSpPr>
          <p:nvPr>
            <p:ph sz="half" idx="1"/>
            <p:custDataLst>
              <p:tags r:id="rId2"/>
            </p:custDataLst>
          </p:nvPr>
        </p:nvSpPr>
        <p:spPr/>
        <p:txBody>
          <a:bodyPr>
            <a:normAutofit fontScale="90000" lnSpcReduction="10000"/>
          </a:bodyPr>
          <a:p>
            <a:pPr marL="0" indent="0">
              <a:buNone/>
            </a:pPr>
            <a:r>
              <a:rPr lang="en-US" altLang="en-US" b="1">
                <a:solidFill>
                  <a:schemeClr val="tx1"/>
                </a:solidFill>
              </a:rPr>
              <a:t>Dataset Source:</a:t>
            </a:r>
            <a:endParaRPr lang="en-US" altLang="en-US" b="1">
              <a:solidFill>
                <a:schemeClr val="tx1"/>
              </a:solidFill>
            </a:endParaRPr>
          </a:p>
          <a:p>
            <a:pPr marL="0" indent="0">
              <a:buNone/>
            </a:pPr>
            <a:r>
              <a:rPr lang="en-US" altLang="en-US"/>
              <a:t>Johns Hopkins COVID-19 Global Time Series Dataset</a:t>
            </a:r>
            <a:endParaRPr lang="en-US" altLang="en-US"/>
          </a:p>
          <a:p>
            <a:pPr marL="0" indent="0">
              <a:buNone/>
            </a:pPr>
            <a:endParaRPr lang="en-US" altLang="en-US"/>
          </a:p>
          <a:p>
            <a:pPr marL="0" indent="0">
              <a:buNone/>
            </a:pPr>
            <a:r>
              <a:rPr lang="en-US" altLang="en-US" b="1">
                <a:solidFill>
                  <a:schemeClr val="tx1"/>
                </a:solidFill>
              </a:rPr>
              <a:t>Datasets Used:</a:t>
            </a:r>
            <a:endParaRPr lang="en-US" altLang="en-US" b="1">
              <a:solidFill>
                <a:schemeClr val="tx1"/>
              </a:solidFill>
            </a:endParaRPr>
          </a:p>
          <a:p>
            <a:pPr marL="0" indent="0">
              <a:buNone/>
            </a:pPr>
            <a:r>
              <a:rPr lang="en-US" altLang="en-US"/>
              <a:t>Confirmed Cases Dataset – contains cumulative confirmed COVID-19 cases by country and date.</a:t>
            </a:r>
            <a:endParaRPr lang="en-US" altLang="en-US"/>
          </a:p>
          <a:p>
            <a:pPr marL="0" indent="0">
              <a:buNone/>
            </a:pPr>
            <a:r>
              <a:rPr lang="en-US" altLang="en-US"/>
              <a:t>Deaths Dataset – contains cumulative COVID-19 deaths by country and date.</a:t>
            </a:r>
            <a:endParaRPr lang="en-US" altLang="en-US"/>
          </a:p>
          <a:p>
            <a:pPr marL="0" indent="0">
              <a:buNone/>
            </a:pPr>
            <a:r>
              <a:rPr lang="en-US" altLang="en-US"/>
              <a:t>Recovered Dataset – contains cumulative recovered cases by country and date.</a:t>
            </a:r>
            <a:endParaRPr lang="en-US" altLang="en-US"/>
          </a:p>
          <a:p>
            <a:pPr marL="0" indent="0">
              <a:buNone/>
            </a:pPr>
            <a:endParaRPr lang="en-US" altLang="en-US"/>
          </a:p>
          <a:p>
            <a:pPr marL="0" indent="0">
              <a:buNone/>
            </a:pPr>
            <a:endParaRPr lang="en-US" altLang="en-US"/>
          </a:p>
        </p:txBody>
      </p:sp>
      <p:sp>
        <p:nvSpPr>
          <p:cNvPr id="6" name="Content Placeholder 5"/>
          <p:cNvSpPr>
            <a:spLocks noGrp="1"/>
          </p:cNvSpPr>
          <p:nvPr>
            <p:ph sz="half" idx="2"/>
            <p:custDataLst>
              <p:tags r:id="rId3"/>
            </p:custDataLst>
          </p:nvPr>
        </p:nvSpPr>
        <p:spPr/>
        <p:txBody>
          <a:bodyPr>
            <a:normAutofit fontScale="90000"/>
          </a:bodyPr>
          <a:p>
            <a:pPr marL="0" indent="0">
              <a:buNone/>
            </a:pPr>
            <a:r>
              <a:rPr lang="en-US" altLang="en-US" b="1">
                <a:solidFill>
                  <a:schemeClr val="tx1"/>
                </a:solidFill>
              </a:rPr>
              <a:t>Data Fields:</a:t>
            </a:r>
            <a:endParaRPr lang="en-US" altLang="en-US" b="1">
              <a:solidFill>
                <a:schemeClr val="tx1"/>
              </a:solidFill>
            </a:endParaRPr>
          </a:p>
          <a:p>
            <a:r>
              <a:rPr lang="en-US" altLang="en-US"/>
              <a:t>Country/Region</a:t>
            </a:r>
            <a:endParaRPr lang="en-US" altLang="en-US"/>
          </a:p>
          <a:p>
            <a:r>
              <a:rPr lang="en-US" altLang="en-US"/>
              <a:t>Date</a:t>
            </a:r>
            <a:endParaRPr lang="en-US" altLang="en-US"/>
          </a:p>
          <a:p>
            <a:r>
              <a:rPr lang="en-US" altLang="en-US"/>
              <a:t>Confirmed Cases</a:t>
            </a:r>
            <a:endParaRPr lang="en-US" altLang="en-US"/>
          </a:p>
          <a:p>
            <a:r>
              <a:rPr lang="en-US" altLang="en-US"/>
              <a:t>Deaths</a:t>
            </a:r>
            <a:endParaRPr lang="en-US" altLang="en-US"/>
          </a:p>
          <a:p>
            <a:r>
              <a:rPr lang="en-US" altLang="en-US"/>
              <a:t>Recovered Cases</a:t>
            </a:r>
            <a:endParaRPr lang="en-US" altLang="en-US"/>
          </a:p>
          <a:p>
            <a:pPr marL="0" indent="0">
              <a:buNone/>
            </a:pPr>
            <a:r>
              <a:rPr lang="en-US" altLang="en-US" b="1">
                <a:solidFill>
                  <a:schemeClr val="tx1"/>
                </a:solidFill>
              </a:rPr>
              <a:t>Purpose:</a:t>
            </a:r>
            <a:endParaRPr lang="en-US" altLang="en-US" b="1">
              <a:solidFill>
                <a:schemeClr val="tx1"/>
              </a:solidFill>
            </a:endParaRPr>
          </a:p>
          <a:p>
            <a:pPr marL="0" indent="0">
              <a:buNone/>
            </a:pPr>
            <a:r>
              <a:rPr lang="en-US" altLang="en-US"/>
              <a:t>&gt; The dataset was used to analyze global COVID-19 trends, compare country-level impact, and create an interactive dashboard for data-driven insights.</a:t>
            </a:r>
            <a:endParaRPr lang="en-US" altLang="en-US"/>
          </a:p>
        </p:txBody>
      </p:sp>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b="1"/>
              <a:t>Business Problem</a:t>
            </a:r>
            <a:endParaRPr lang="en-US" b="1"/>
          </a:p>
        </p:txBody>
      </p:sp>
      <p:sp>
        <p:nvSpPr>
          <p:cNvPr id="7" name="Content Placeholder 6"/>
          <p:cNvSpPr>
            <a:spLocks noGrp="1"/>
          </p:cNvSpPr>
          <p:nvPr>
            <p:ph idx="1"/>
            <p:custDataLst>
              <p:tags r:id="rId2"/>
            </p:custDataLst>
          </p:nvPr>
        </p:nvSpPr>
        <p:spPr/>
        <p:txBody>
          <a:bodyPr>
            <a:normAutofit fontScale="90000"/>
          </a:bodyPr>
          <a:p>
            <a:pPr marL="0" indent="0">
              <a:buNone/>
            </a:pPr>
            <a:r>
              <a:rPr lang="en-US" altLang="en-US"/>
              <a:t>The COVID-19 pandemic generated large amounts of data that required effective analysis and visualization to support understanding and decision-making.</a:t>
            </a:r>
            <a:endParaRPr lang="en-US" altLang="en-US"/>
          </a:p>
          <a:p>
            <a:pPr marL="0" indent="0">
              <a:buNone/>
            </a:pPr>
            <a:endParaRPr lang="en-US" altLang="en-US"/>
          </a:p>
          <a:p>
            <a:pPr marL="0" indent="0">
              <a:buNone/>
            </a:pPr>
            <a:r>
              <a:rPr lang="en-US" altLang="en-US"/>
              <a:t>The dashboard aims to answer:</a:t>
            </a:r>
            <a:endParaRPr lang="en-US" altLang="en-US"/>
          </a:p>
          <a:p>
            <a:pPr marL="0" indent="0">
              <a:buNone/>
            </a:pPr>
            <a:r>
              <a:rPr lang="en-US" altLang="en-US"/>
              <a:t>How did global COVID-19 cases change over time?</a:t>
            </a:r>
            <a:endParaRPr lang="en-US" altLang="en-US"/>
          </a:p>
          <a:p>
            <a:pPr marL="0" indent="0">
              <a:buNone/>
            </a:pPr>
            <a:r>
              <a:rPr lang="en-US" altLang="en-US"/>
              <a:t>Which countries were most affected by the pandemic?</a:t>
            </a:r>
            <a:endParaRPr lang="en-US" altLang="en-US"/>
          </a:p>
          <a:p>
            <a:pPr marL="0" indent="0">
              <a:buNone/>
            </a:pPr>
            <a:r>
              <a:rPr lang="en-US" altLang="en-US"/>
              <a:t>What were the differences in confirmed cases, deaths, and recoveries across countries?</a:t>
            </a:r>
            <a:endParaRPr lang="en-US" altLang="en-US"/>
          </a:p>
          <a:p>
            <a:pPr marL="0" indent="0">
              <a:buNone/>
            </a:pPr>
            <a:r>
              <a:rPr lang="en-US" altLang="en-US"/>
              <a:t>What were the recovery and death rates?</a:t>
            </a:r>
            <a:endParaRPr lang="en-US" altLang="en-US"/>
          </a:p>
          <a:p>
            <a:pPr marL="0" indent="0">
              <a:buNone/>
            </a:pPr>
            <a:r>
              <a:rPr lang="en-US" altLang="en-US" b="1"/>
              <a:t>Objective:</a:t>
            </a:r>
            <a:endParaRPr lang="en-US" altLang="en-US" b="1"/>
          </a:p>
          <a:p>
            <a:pPr marL="0" indent="0">
              <a:buNone/>
            </a:pPr>
            <a:r>
              <a:rPr lang="en-US" altLang="en-US"/>
              <a:t>&gt; To develop an interactive dashboard that transforms COVID-19 data into meaningful insights through data visualization and KPI analysis.</a:t>
            </a:r>
            <a:endParaRPr lang="en-US" altLang="en-US"/>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itle 8"/>
          <p:cNvSpPr>
            <a:spLocks noGrp="1"/>
          </p:cNvSpPr>
          <p:nvPr>
            <p:ph type="title"/>
            <p:custDataLst>
              <p:tags r:id="rId1"/>
            </p:custDataLst>
          </p:nvPr>
        </p:nvSpPr>
        <p:spPr/>
        <p:txBody>
          <a:bodyPr/>
          <a:p>
            <a:r>
              <a:rPr lang="en-US" b="1">
                <a:solidFill>
                  <a:schemeClr val="tx1"/>
                </a:solidFill>
              </a:rPr>
              <a:t>Key Performance Indicators</a:t>
            </a:r>
            <a:endParaRPr lang="en-US" b="1">
              <a:solidFill>
                <a:schemeClr val="tx1"/>
              </a:solidFill>
            </a:endParaRPr>
          </a:p>
        </p:txBody>
      </p:sp>
      <p:sp>
        <p:nvSpPr>
          <p:cNvPr id="10" name="Content Placeholder 9"/>
          <p:cNvSpPr>
            <a:spLocks noGrp="1"/>
          </p:cNvSpPr>
          <p:nvPr>
            <p:ph sz="half" idx="1"/>
            <p:custDataLst>
              <p:tags r:id="rId2"/>
            </p:custDataLst>
          </p:nvPr>
        </p:nvSpPr>
        <p:spPr/>
        <p:txBody>
          <a:bodyPr>
            <a:normAutofit fontScale="80000"/>
          </a:bodyPr>
          <a:p>
            <a:pPr marL="0" indent="0">
              <a:buNone/>
            </a:pPr>
            <a:r>
              <a:rPr lang="en-US" altLang="en-US" b="1">
                <a:solidFill>
                  <a:schemeClr val="tx1"/>
                </a:solidFill>
              </a:rPr>
              <a:t>The dashboard uses key metrics to summarize the impact of COVID-19 globally and by country.</a:t>
            </a:r>
            <a:endParaRPr lang="en-US" altLang="en-US" b="1">
              <a:solidFill>
                <a:schemeClr val="tx1"/>
              </a:solidFill>
            </a:endParaRPr>
          </a:p>
          <a:p>
            <a:pPr marL="0" indent="0">
              <a:buNone/>
            </a:pPr>
            <a:endParaRPr lang="en-US" altLang="en-US"/>
          </a:p>
          <a:p>
            <a:pPr marL="0" indent="0">
              <a:buNone/>
            </a:pPr>
            <a:r>
              <a:rPr lang="en-US" altLang="en-US" b="1">
                <a:solidFill>
                  <a:schemeClr val="tx1"/>
                </a:solidFill>
              </a:rPr>
              <a:t>KPIs:</a:t>
            </a:r>
            <a:endParaRPr lang="en-US" altLang="en-US" b="1">
              <a:solidFill>
                <a:schemeClr val="tx1"/>
              </a:solidFill>
            </a:endParaRPr>
          </a:p>
          <a:p>
            <a:pPr marL="0" indent="0">
              <a:buNone/>
            </a:pPr>
            <a:r>
              <a:rPr lang="en-US" altLang="en-US" b="1">
                <a:solidFill>
                  <a:schemeClr val="tx1"/>
                </a:solidFill>
              </a:rPr>
              <a:t>1. Total Confirmed Cases</a:t>
            </a:r>
            <a:endParaRPr lang="en-US" altLang="en-US" b="1">
              <a:solidFill>
                <a:schemeClr val="tx1"/>
              </a:solidFill>
            </a:endParaRPr>
          </a:p>
          <a:p>
            <a:pPr marL="0" indent="0">
              <a:buNone/>
            </a:pPr>
            <a:r>
              <a:rPr lang="en-US" altLang="en-US"/>
              <a:t>Shows the total number of reported COVID-19 cases.</a:t>
            </a:r>
            <a:endParaRPr lang="en-US" altLang="en-US"/>
          </a:p>
          <a:p>
            <a:pPr marL="0" indent="0">
              <a:buNone/>
            </a:pPr>
            <a:r>
              <a:rPr lang="en-US" altLang="en-US" b="1">
                <a:solidFill>
                  <a:schemeClr val="tx1"/>
                </a:solidFill>
              </a:rPr>
              <a:t>2. Total Deaths</a:t>
            </a:r>
            <a:endParaRPr lang="en-US" altLang="en-US" b="1">
              <a:solidFill>
                <a:schemeClr val="tx1"/>
              </a:solidFill>
            </a:endParaRPr>
          </a:p>
          <a:p>
            <a:pPr marL="0" indent="0">
              <a:buNone/>
            </a:pPr>
            <a:r>
              <a:rPr lang="en-US" altLang="en-US"/>
              <a:t>Shows the total number of reported deaths related to COVID-19.</a:t>
            </a:r>
            <a:endParaRPr lang="en-US" altLang="en-US"/>
          </a:p>
          <a:p>
            <a:pPr marL="0" indent="0">
              <a:buNone/>
            </a:pPr>
            <a:r>
              <a:rPr lang="en-US" altLang="en-US" b="1">
                <a:solidFill>
                  <a:schemeClr val="tx1"/>
                </a:solidFill>
              </a:rPr>
              <a:t>3. Total Recoveries</a:t>
            </a:r>
            <a:endParaRPr lang="en-US" altLang="en-US" b="1">
              <a:solidFill>
                <a:schemeClr val="tx1"/>
              </a:solidFill>
            </a:endParaRPr>
          </a:p>
          <a:p>
            <a:pPr marL="0" indent="0">
              <a:buNone/>
            </a:pPr>
            <a:r>
              <a:rPr lang="en-US" altLang="en-US"/>
              <a:t>Shows the number of reported recovered cases.</a:t>
            </a:r>
            <a:endParaRPr lang="en-US" altLang="en-US"/>
          </a:p>
        </p:txBody>
      </p:sp>
      <p:sp>
        <p:nvSpPr>
          <p:cNvPr id="11" name="Content Placeholder 10"/>
          <p:cNvSpPr>
            <a:spLocks noGrp="1"/>
          </p:cNvSpPr>
          <p:nvPr>
            <p:ph sz="half" idx="2"/>
            <p:custDataLst>
              <p:tags r:id="rId3"/>
            </p:custDataLst>
          </p:nvPr>
        </p:nvSpPr>
        <p:spPr/>
        <p:txBody>
          <a:bodyPr>
            <a:normAutofit fontScale="80000"/>
          </a:bodyPr>
          <a:p>
            <a:pPr marL="0" indent="0">
              <a:buNone/>
            </a:pPr>
            <a:r>
              <a:rPr lang="en-US" altLang="en-US" b="1">
                <a:solidFill>
                  <a:schemeClr val="tx1"/>
                </a:solidFill>
              </a:rPr>
              <a:t>4. Recovery Rate</a:t>
            </a:r>
            <a:endParaRPr lang="en-US" altLang="en-US" b="1">
              <a:solidFill>
                <a:schemeClr val="tx1"/>
              </a:solidFill>
            </a:endParaRPr>
          </a:p>
          <a:p>
            <a:pPr marL="0" indent="0">
              <a:buNone/>
            </a:pPr>
            <a:endParaRPr lang="en-US" altLang="en-US"/>
          </a:p>
          <a:p>
            <a:pPr marL="0" indent="0">
              <a:buNone/>
            </a:pPr>
            <a:r>
              <a:rPr lang="en-US" altLang="en-US"/>
              <a:t>Measures the percentage of confirmed cases that recovered.</a:t>
            </a:r>
            <a:endParaRPr lang="en-US" altLang="en-US"/>
          </a:p>
          <a:p>
            <a:pPr marL="0" indent="0">
              <a:buNone/>
            </a:pPr>
            <a:endParaRPr lang="en-US" altLang="en-US"/>
          </a:p>
          <a:p>
            <a:pPr marL="0" indent="0">
              <a:buNone/>
            </a:pPr>
            <a:r>
              <a:rPr lang="en-US" altLang="en-US"/>
              <a:t>Formula: Recovery Rate = (Recovered Cases ÷ Confirmed Cases) × 100</a:t>
            </a:r>
            <a:endParaRPr lang="en-US" altLang="en-US"/>
          </a:p>
          <a:p>
            <a:pPr marL="0" indent="0">
              <a:buNone/>
            </a:pPr>
            <a:r>
              <a:rPr lang="en-US" altLang="en-US" b="1">
                <a:solidFill>
                  <a:schemeClr val="tx1"/>
                </a:solidFill>
              </a:rPr>
              <a:t>5. Death Rate</a:t>
            </a:r>
            <a:endParaRPr lang="en-US" altLang="en-US" b="1">
              <a:solidFill>
                <a:schemeClr val="tx1"/>
              </a:solidFill>
            </a:endParaRPr>
          </a:p>
          <a:p>
            <a:pPr marL="0" indent="0">
              <a:buNone/>
            </a:pPr>
            <a:endParaRPr lang="en-US" altLang="en-US"/>
          </a:p>
          <a:p>
            <a:pPr marL="0" indent="0">
              <a:buNone/>
            </a:pPr>
            <a:r>
              <a:rPr lang="en-US" altLang="en-US"/>
              <a:t>Measures the percentage of confirmed cases that resulted in deaths.</a:t>
            </a:r>
            <a:endParaRPr lang="en-US" altLang="en-US"/>
          </a:p>
          <a:p>
            <a:pPr marL="0" indent="0">
              <a:buNone/>
            </a:pPr>
            <a:r>
              <a:rPr lang="en-US" altLang="en-US"/>
              <a:t>Formula: Death Rate = (Deaths ÷ Confirmed Cases) × 100</a:t>
            </a:r>
            <a:endParaRPr lang="en-US" altLang="en-US"/>
          </a:p>
        </p:txBody>
      </p:sp>
    </p:spTree>
    <p:custDataLst>
      <p:tags r:id="rId4"/>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b="1">
                <a:solidFill>
                  <a:schemeClr val="tx1"/>
                </a:solidFill>
              </a:rPr>
              <a:t>COVID-19 Analysis Dashboard</a:t>
            </a:r>
            <a:endParaRPr lang="en-US" b="1">
              <a:solidFill>
                <a:schemeClr val="tx1"/>
              </a:solidFill>
            </a:endParaRPr>
          </a:p>
        </p:txBody>
      </p:sp>
      <p:pic>
        <p:nvPicPr>
          <p:cNvPr id="6" name="Content Placeholder 5" descr="Screenshot 2026-07-30 225640"/>
          <p:cNvPicPr>
            <a:picLocks noChangeAspect="1"/>
          </p:cNvPicPr>
          <p:nvPr>
            <p:ph idx="1"/>
            <p:custDataLst>
              <p:tags r:id="rId2"/>
            </p:custDataLst>
          </p:nvPr>
        </p:nvPicPr>
        <p:blipFill>
          <a:blip r:embed="rId3"/>
          <a:stretch>
            <a:fillRect/>
          </a:stretch>
        </p:blipFill>
        <p:spPr>
          <a:xfrm>
            <a:off x="375920" y="1314450"/>
            <a:ext cx="11341100" cy="5301615"/>
          </a:xfrm>
          <a:prstGeom prst="rect">
            <a:avLst/>
          </a:prstGeom>
        </p:spPr>
      </p:pic>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b="1">
                <a:solidFill>
                  <a:schemeClr val="tx1"/>
                </a:solidFill>
              </a:rPr>
              <a:t>Key Insights</a:t>
            </a:r>
            <a:endParaRPr lang="en-US" b="1">
              <a:solidFill>
                <a:schemeClr val="tx1"/>
              </a:solidFill>
            </a:endParaRPr>
          </a:p>
        </p:txBody>
      </p:sp>
      <p:sp>
        <p:nvSpPr>
          <p:cNvPr id="5" name="Content Placeholder 4"/>
          <p:cNvSpPr>
            <a:spLocks noGrp="1"/>
          </p:cNvSpPr>
          <p:nvPr>
            <p:ph idx="1"/>
            <p:custDataLst>
              <p:tags r:id="rId2"/>
            </p:custDataLst>
          </p:nvPr>
        </p:nvSpPr>
        <p:spPr/>
        <p:txBody>
          <a:bodyPr>
            <a:normAutofit fontScale="80000"/>
          </a:bodyPr>
          <a:p>
            <a:pPr marL="0" indent="0">
              <a:buNone/>
            </a:pPr>
            <a:r>
              <a:rPr lang="en-US" altLang="en-US" b="1">
                <a:solidFill>
                  <a:schemeClr val="tx1"/>
                </a:solidFill>
              </a:rPr>
              <a:t>1. Global Case Trends</a:t>
            </a:r>
            <a:endParaRPr lang="en-US" altLang="en-US" b="1">
              <a:solidFill>
                <a:schemeClr val="tx1"/>
              </a:solidFill>
            </a:endParaRPr>
          </a:p>
          <a:p>
            <a:pPr marL="0" indent="0">
              <a:buNone/>
            </a:pPr>
            <a:r>
              <a:rPr lang="en-US" altLang="en-US"/>
              <a:t>Confirmed COVID-19 cases increased significantly over the analyzed period, showing the progression of the pandemic globally.</a:t>
            </a:r>
            <a:endParaRPr lang="en-US" altLang="en-US"/>
          </a:p>
          <a:p>
            <a:pPr marL="0" indent="0">
              <a:buNone/>
            </a:pPr>
            <a:r>
              <a:rPr lang="en-US" altLang="en-US" b="1">
                <a:solidFill>
                  <a:schemeClr val="tx1"/>
                </a:solidFill>
              </a:rPr>
              <a:t>2. Country-Level Impact</a:t>
            </a:r>
            <a:endParaRPr lang="en-US" altLang="en-US" b="1">
              <a:solidFill>
                <a:schemeClr val="tx1"/>
              </a:solidFill>
            </a:endParaRPr>
          </a:p>
          <a:p>
            <a:pPr marL="0" indent="0">
              <a:buNone/>
            </a:pPr>
            <a:r>
              <a:rPr lang="en-US" altLang="en-US"/>
              <a:t>The impact of COVID-19 varied across countries, with differences in confirmed cases, deaths, and recoveries.</a:t>
            </a:r>
            <a:endParaRPr lang="en-US" altLang="en-US"/>
          </a:p>
          <a:p>
            <a:pPr marL="0" indent="0">
              <a:buNone/>
            </a:pPr>
            <a:r>
              <a:rPr lang="en-US" altLang="en-US" b="1">
                <a:solidFill>
                  <a:schemeClr val="tx1"/>
                </a:solidFill>
              </a:rPr>
              <a:t>3. Recovery and Death Outcomes</a:t>
            </a:r>
            <a:endParaRPr lang="en-US" altLang="en-US" b="1">
              <a:solidFill>
                <a:schemeClr val="tx1"/>
              </a:solidFill>
            </a:endParaRPr>
          </a:p>
          <a:p>
            <a:pPr marL="0" indent="0">
              <a:buNone/>
            </a:pPr>
            <a:r>
              <a:rPr lang="en-US" altLang="en-US"/>
              <a:t>Recovery and death rates provided insights into the outcomes of reported COVID-19 cases across different regions.</a:t>
            </a:r>
            <a:endParaRPr lang="en-US" altLang="en-US"/>
          </a:p>
          <a:p>
            <a:pPr marL="0" indent="0">
              <a:buNone/>
            </a:pPr>
            <a:r>
              <a:rPr lang="en-US" altLang="en-US" b="1">
                <a:solidFill>
                  <a:schemeClr val="tx1"/>
                </a:solidFill>
              </a:rPr>
              <a:t>4. Interactive Analysis</a:t>
            </a:r>
            <a:endParaRPr lang="en-US" altLang="en-US" b="1">
              <a:solidFill>
                <a:schemeClr val="tx1"/>
              </a:solidFill>
            </a:endParaRPr>
          </a:p>
          <a:p>
            <a:pPr marL="0" indent="0">
              <a:buNone/>
            </a:pPr>
            <a:r>
              <a:rPr lang="en-US" altLang="en-US"/>
              <a:t>The dashboard enables users to explore global and country-level trends through interactive filtering.</a:t>
            </a:r>
            <a:endParaRPr lang="en-US" altLang="en-US"/>
          </a:p>
          <a:p>
            <a:pPr marL="0" indent="0">
              <a:buNone/>
            </a:pPr>
            <a:endParaRPr lang="en-US" altLang="en-US"/>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b="1">
                <a:solidFill>
                  <a:schemeClr val="tx1"/>
                </a:solidFill>
              </a:rPr>
              <a:t>Recommendations</a:t>
            </a:r>
            <a:endParaRPr lang="en-US" b="1">
              <a:solidFill>
                <a:schemeClr val="tx1"/>
              </a:solidFill>
            </a:endParaRPr>
          </a:p>
        </p:txBody>
      </p:sp>
      <p:sp>
        <p:nvSpPr>
          <p:cNvPr id="5" name="Content Placeholder 4"/>
          <p:cNvSpPr>
            <a:spLocks noGrp="1"/>
          </p:cNvSpPr>
          <p:nvPr>
            <p:ph idx="1"/>
            <p:custDataLst>
              <p:tags r:id="rId2"/>
            </p:custDataLst>
          </p:nvPr>
        </p:nvSpPr>
        <p:spPr/>
        <p:txBody>
          <a:bodyPr>
            <a:normAutofit fontScale="90000"/>
          </a:bodyPr>
          <a:p>
            <a:pPr marL="0" indent="0">
              <a:buNone/>
            </a:pPr>
            <a:r>
              <a:rPr lang="en-US" altLang="en-US"/>
              <a:t>Based on the dashboard analysis, the following recommendations are suggested:</a:t>
            </a:r>
            <a:endParaRPr lang="en-US" altLang="en-US"/>
          </a:p>
          <a:p>
            <a:pPr marL="0" indent="0">
              <a:buNone/>
            </a:pPr>
            <a:endParaRPr lang="en-US" altLang="en-US"/>
          </a:p>
          <a:p>
            <a:pPr marL="0" indent="0">
              <a:buNone/>
            </a:pPr>
            <a:r>
              <a:rPr lang="en-US" altLang="en-US" b="1">
                <a:solidFill>
                  <a:schemeClr val="tx1"/>
                </a:solidFill>
              </a:rPr>
              <a:t>1. Data-Driven Monitoring</a:t>
            </a:r>
            <a:endParaRPr lang="en-US" altLang="en-US" b="1">
              <a:solidFill>
                <a:schemeClr val="tx1"/>
              </a:solidFill>
            </a:endParaRPr>
          </a:p>
          <a:p>
            <a:pPr marL="0" indent="0">
              <a:buNone/>
            </a:pPr>
            <a:r>
              <a:rPr lang="en-US" altLang="en-US"/>
              <a:t>Use interactive dashboards to continuously monitor health trends and support timely decision-making.</a:t>
            </a:r>
            <a:endParaRPr lang="en-US" altLang="en-US"/>
          </a:p>
          <a:p>
            <a:pPr marL="0" indent="0">
              <a:buNone/>
            </a:pPr>
            <a:r>
              <a:rPr lang="en-US" altLang="en-US" b="1">
                <a:solidFill>
                  <a:schemeClr val="tx1"/>
                </a:solidFill>
              </a:rPr>
              <a:t>2. Improve Data Quality</a:t>
            </a:r>
            <a:endParaRPr lang="en-US" altLang="en-US" b="1">
              <a:solidFill>
                <a:schemeClr val="tx1"/>
              </a:solidFill>
            </a:endParaRPr>
          </a:p>
          <a:p>
            <a:pPr marL="0" indent="0">
              <a:buNone/>
            </a:pPr>
            <a:r>
              <a:rPr lang="en-US" altLang="en-US"/>
              <a:t>Encourage consistent and accurate reporting of health data across regions.</a:t>
            </a:r>
            <a:endParaRPr lang="en-US" altLang="en-US"/>
          </a:p>
          <a:p>
            <a:pPr marL="0" indent="0">
              <a:buNone/>
            </a:pPr>
            <a:r>
              <a:rPr lang="en-US" altLang="en-US" b="1">
                <a:solidFill>
                  <a:schemeClr val="tx1"/>
                </a:solidFill>
              </a:rPr>
              <a:t>3. Resource Planning</a:t>
            </a:r>
            <a:endParaRPr lang="en-US" altLang="en-US" b="1">
              <a:solidFill>
                <a:schemeClr val="tx1"/>
              </a:solidFill>
            </a:endParaRPr>
          </a:p>
          <a:p>
            <a:pPr marL="0" indent="0">
              <a:buNone/>
            </a:pPr>
            <a:r>
              <a:rPr lang="en-US" altLang="en-US"/>
              <a:t>Use insights from data analysis to support planning and allocation of healthcare resources.</a:t>
            </a:r>
            <a:endParaRPr lang="en-US" altLang="en-US"/>
          </a:p>
          <a:p>
            <a:pPr marL="0" indent="0">
              <a:buNone/>
            </a:pPr>
            <a:r>
              <a:rPr lang="en-US" altLang="en-US" b="1">
                <a:solidFill>
                  <a:schemeClr val="tx1"/>
                </a:solidFill>
              </a:rPr>
              <a:t>4. Future Analysis</a:t>
            </a:r>
            <a:endParaRPr lang="en-US" altLang="en-US" b="1">
              <a:solidFill>
                <a:schemeClr val="tx1"/>
              </a:solidFill>
            </a:endParaRPr>
          </a:p>
          <a:p>
            <a:pPr marL="0" indent="0">
              <a:buNone/>
            </a:pPr>
            <a:r>
              <a:rPr lang="en-US" altLang="en-US"/>
              <a:t>Combine COVID-19 data with additional health and demographic information for deeper insights.</a:t>
            </a:r>
            <a:endParaRPr lang="en-US" altLang="en-US"/>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b="1">
                <a:solidFill>
                  <a:schemeClr val="tx1"/>
                </a:solidFill>
              </a:rPr>
              <a:t>Challenges Faced</a:t>
            </a:r>
            <a:endParaRPr lang="en-US" b="1">
              <a:solidFill>
                <a:schemeClr val="tx1"/>
              </a:solidFill>
            </a:endParaRPr>
          </a:p>
        </p:txBody>
      </p:sp>
      <p:sp>
        <p:nvSpPr>
          <p:cNvPr id="5" name="Content Placeholder 4"/>
          <p:cNvSpPr>
            <a:spLocks noGrp="1"/>
          </p:cNvSpPr>
          <p:nvPr>
            <p:ph idx="1"/>
            <p:custDataLst>
              <p:tags r:id="rId2"/>
            </p:custDataLst>
          </p:nvPr>
        </p:nvSpPr>
        <p:spPr/>
        <p:txBody>
          <a:bodyPr/>
          <a:p>
            <a:pPr marL="0" indent="0">
              <a:buNone/>
            </a:pPr>
            <a:r>
              <a:rPr lang="en-US" altLang="en-US" b="1">
                <a:solidFill>
                  <a:schemeClr val="tx1"/>
                </a:solidFill>
              </a:rPr>
              <a:t>During the project, the following challenges were encountered:</a:t>
            </a:r>
            <a:endParaRPr lang="en-US" altLang="en-US" b="1">
              <a:solidFill>
                <a:schemeClr val="tx1"/>
              </a:solidFill>
            </a:endParaRPr>
          </a:p>
          <a:p>
            <a:pPr marL="0" indent="0">
              <a:buNone/>
            </a:pPr>
            <a:endParaRPr lang="en-US" altLang="en-US" b="1">
              <a:solidFill>
                <a:schemeClr val="tx1"/>
              </a:solidFill>
            </a:endParaRPr>
          </a:p>
          <a:p>
            <a:r>
              <a:rPr lang="en-US" altLang="en-US"/>
              <a:t>Cleaning and preparing multiple COVID-19 datasets.</a:t>
            </a:r>
            <a:endParaRPr lang="en-US" altLang="en-US"/>
          </a:p>
          <a:p>
            <a:r>
              <a:rPr lang="en-US" altLang="en-US"/>
              <a:t>Creating relationships between separate tables in Power BI.</a:t>
            </a:r>
            <a:endParaRPr lang="en-US" altLang="en-US"/>
          </a:p>
          <a:p>
            <a:r>
              <a:rPr lang="en-US" altLang="en-US"/>
              <a:t>Developing accurate DAX measures for KPIs and rates.</a:t>
            </a:r>
            <a:endParaRPr lang="en-US" altLang="en-US"/>
          </a:p>
          <a:p>
            <a:r>
              <a:rPr lang="en-US" altLang="en-US"/>
              <a:t>Ensuring all visuals responded correctly to slicer selections.</a:t>
            </a:r>
            <a:endParaRPr lang="en-US" altLang="en-US"/>
          </a:p>
          <a:p>
            <a:r>
              <a:rPr lang="en-US" altLang="en-US"/>
              <a:t>Designing a dashboard that was both interactive and easy to understand.</a:t>
            </a:r>
            <a:endParaRPr lang="en-US"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p:txBody>
          <a:bodyPr/>
          <a:p>
            <a:r>
              <a:rPr lang="en-US" b="1">
                <a:solidFill>
                  <a:schemeClr val="tx1"/>
                </a:solidFill>
              </a:rPr>
              <a:t>Conclusion</a:t>
            </a:r>
            <a:endParaRPr lang="en-US" b="1">
              <a:solidFill>
                <a:schemeClr val="tx1"/>
              </a:solidFill>
            </a:endParaRPr>
          </a:p>
        </p:txBody>
      </p:sp>
      <p:sp>
        <p:nvSpPr>
          <p:cNvPr id="5" name="Content Placeholder 4"/>
          <p:cNvSpPr>
            <a:spLocks noGrp="1"/>
          </p:cNvSpPr>
          <p:nvPr>
            <p:ph idx="1"/>
            <p:custDataLst>
              <p:tags r:id="rId2"/>
            </p:custDataLst>
          </p:nvPr>
        </p:nvSpPr>
        <p:spPr/>
        <p:txBody>
          <a:bodyPr/>
          <a:p>
            <a:pPr marL="0" indent="0">
              <a:buNone/>
            </a:pPr>
            <a:r>
              <a:rPr lang="en-US" altLang="en-US"/>
              <a:t>This project successfully transformed COVID-19 data into an interactive Power BI dashboard. The dashboard provides clear visualizations of confirmed cases, deaths, recoveries, and key performance indicators, enabling users to explore trends and gain meaningful insights through interactive filtering.</a:t>
            </a:r>
            <a:endParaRPr lang="en-US" altLang="en-US"/>
          </a:p>
          <a:p>
            <a:pPr marL="0" indent="0">
              <a:buNone/>
            </a:pPr>
            <a:r>
              <a:rPr lang="en-US" altLang="en-US" b="1">
                <a:solidFill>
                  <a:schemeClr val="tx1"/>
                </a:solidFill>
              </a:rPr>
              <a:t>Closing Statement:</a:t>
            </a:r>
            <a:endParaRPr lang="en-US" altLang="en-US" b="1">
              <a:solidFill>
                <a:schemeClr val="tx1"/>
              </a:solidFill>
            </a:endParaRPr>
          </a:p>
          <a:p>
            <a:pPr marL="0" indent="0">
              <a:buNone/>
            </a:pPr>
            <a:r>
              <a:rPr lang="en-US" altLang="en-US"/>
              <a:t>The project demonstrates how data visualization can support informed decision-making by presenting complex health data in a clear, interactive, and easy-to-understand format.</a:t>
            </a:r>
            <a:endParaRPr lang="en-US"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BEAUTIFY_FLAG" val="#wm#"/>
  <p:tag name="KSO_WM_TEMPLATE_CATEGORY" val="custom"/>
  <p:tag name="KSO_WM_TEMPLATE_INDEX" val="2020508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3914</Words>
  <Application>WPS Presentation</Application>
  <PresentationFormat>Widescreen</PresentationFormat>
  <Paragraphs>105</Paragraphs>
  <Slides>9</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9</vt:i4>
      </vt:variant>
    </vt:vector>
  </HeadingPairs>
  <TitlesOfParts>
    <vt:vector size="17" baseType="lpstr">
      <vt:lpstr>Arial</vt:lpstr>
      <vt:lpstr>SimSun</vt:lpstr>
      <vt:lpstr>Wingdings</vt:lpstr>
      <vt:lpstr>Wingdings</vt:lpstr>
      <vt:lpstr>Microsoft YaHei</vt:lpstr>
      <vt:lpstr>Arial Unicode MS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COVID-19 Analysis Dashboard</dc:title>
  <dc:creator>Administrator</dc:creator>
  <cp:lastModifiedBy>WPS_1785447558</cp:lastModifiedBy>
  <cp:revision>1</cp:revision>
  <dcterms:created xsi:type="dcterms:W3CDTF">2026-07-30T22:22:34Z</dcterms:created>
  <dcterms:modified xsi:type="dcterms:W3CDTF">2026-07-30T22:22:34Z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05D876C2E850473F9138F1D20249D205_11</vt:lpwstr>
  </property>
</Properties>
</file>